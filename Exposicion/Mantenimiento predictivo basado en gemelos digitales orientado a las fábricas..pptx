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Open Sans 1 Medium" charset="1" panose="00000000000000000000"/>
      <p:regular r:id="rId15"/>
    </p:embeddedFont>
    <p:embeddedFont>
      <p:font typeface="Open Sans 1 Ultra-Bold" charset="1" panose="00000000000000000000"/>
      <p:regular r:id="rId16"/>
    </p:embeddedFont>
    <p:embeddedFont>
      <p:font typeface="Open Sans 1 Bold" charset="1" panose="00000000000000000000"/>
      <p:regular r:id="rId17"/>
    </p:embeddedFont>
    <p:embeddedFont>
      <p:font typeface="Open Sans 1" charset="1" panose="00000000000000000000"/>
      <p:regular r:id="rId18"/>
    </p:embeddedFont>
    <p:embeddedFont>
      <p:font typeface="Open Sans 1 Semi-Bold" charset="1" panose="00000000000000000000"/>
      <p:regular r:id="rId19"/>
    </p:embeddedFont>
    <p:embeddedFont>
      <p:font typeface="Open Sans 2 Bold" charset="1" panose="020B0806030504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jpeg" Type="http://schemas.openxmlformats.org/officeDocument/2006/relationships/image"/><Relationship Id="rId5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3D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1804818" y="9797795"/>
            <a:ext cx="6483182" cy="0"/>
          </a:xfrm>
          <a:prstGeom prst="line">
            <a:avLst/>
          </a:prstGeom>
          <a:ln cap="rnd" w="323850">
            <a:solidFill>
              <a:srgbClr val="B48C5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7757409">
            <a:off x="12007383" y="-4543149"/>
            <a:ext cx="9928415" cy="8087145"/>
          </a:xfrm>
          <a:custGeom>
            <a:avLst/>
            <a:gdLst/>
            <a:ahLst/>
            <a:cxnLst/>
            <a:rect r="r" b="b" t="t" l="l"/>
            <a:pathLst>
              <a:path h="8087145" w="9928415">
                <a:moveTo>
                  <a:pt x="0" y="0"/>
                </a:moveTo>
                <a:lnTo>
                  <a:pt x="9928415" y="0"/>
                </a:lnTo>
                <a:lnTo>
                  <a:pt x="9928415" y="8087145"/>
                </a:lnTo>
                <a:lnTo>
                  <a:pt x="0" y="80871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428339" y="921542"/>
            <a:ext cx="1918052" cy="191805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004857" y="607583"/>
            <a:ext cx="700314" cy="70031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211046" y="8873118"/>
            <a:ext cx="10909544" cy="770363"/>
            <a:chOff x="0" y="0"/>
            <a:chExt cx="4059204" cy="2866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59204" cy="286635"/>
            </a:xfrm>
            <a:custGeom>
              <a:avLst/>
              <a:gdLst/>
              <a:ahLst/>
              <a:cxnLst/>
              <a:rect r="r" b="b" t="t" l="l"/>
              <a:pathLst>
                <a:path h="286635" w="4059204">
                  <a:moveTo>
                    <a:pt x="0" y="0"/>
                  </a:moveTo>
                  <a:lnTo>
                    <a:pt x="4059204" y="0"/>
                  </a:lnTo>
                  <a:lnTo>
                    <a:pt x="4059204" y="286635"/>
                  </a:lnTo>
                  <a:lnTo>
                    <a:pt x="0" y="286635"/>
                  </a:ln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059204" cy="3342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85648" y="2695316"/>
            <a:ext cx="14716704" cy="4364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0"/>
              </a:lnSpc>
            </a:pPr>
            <a:r>
              <a:rPr lang="en-US" b="true" sz="7114" spc="1885">
                <a:solidFill>
                  <a:srgbClr val="FFFFFF"/>
                </a:solidFill>
                <a:latin typeface="Open Sans 1 Medium"/>
                <a:ea typeface="Open Sans 1 Medium"/>
                <a:cs typeface="Open Sans 1 Medium"/>
                <a:sym typeface="Open Sans 1 Medium"/>
              </a:rPr>
              <a:t>MANTENIMIENTO PREDICTIVO BASADO EN GEMELOS DIGITALES ORIENTADO A LAS FÁBRICAS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045" y="9128266"/>
            <a:ext cx="10269361" cy="307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3"/>
              </a:lnSpc>
            </a:pPr>
            <a:r>
              <a:rPr lang="en-US" b="true" sz="2336" spc="322">
                <a:solidFill>
                  <a:srgbClr val="FFFFFF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Presentación a cargo de Espinoza Zuzanibar Michael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724685">
            <a:off x="13495238" y="6082964"/>
            <a:ext cx="10135766" cy="8256042"/>
          </a:xfrm>
          <a:custGeom>
            <a:avLst/>
            <a:gdLst/>
            <a:ahLst/>
            <a:cxnLst/>
            <a:rect r="r" b="b" t="t" l="l"/>
            <a:pathLst>
              <a:path h="8256042" w="10135766">
                <a:moveTo>
                  <a:pt x="0" y="0"/>
                </a:moveTo>
                <a:lnTo>
                  <a:pt x="10135767" y="0"/>
                </a:lnTo>
                <a:lnTo>
                  <a:pt x="10135767" y="8256042"/>
                </a:lnTo>
                <a:lnTo>
                  <a:pt x="0" y="82560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6794" y="614096"/>
            <a:ext cx="12899219" cy="180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8"/>
              </a:lnSpc>
            </a:pPr>
            <a:r>
              <a:rPr lang="en-US" b="true" sz="5948" spc="1094">
                <a:solidFill>
                  <a:srgbClr val="022A3D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EL PROBLEMA DE LAS FÁBRICAS ACTUALES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84149" y="3361460"/>
            <a:ext cx="13293894" cy="1710957"/>
            <a:chOff x="0" y="0"/>
            <a:chExt cx="3501272" cy="4506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01272" cy="450622"/>
            </a:xfrm>
            <a:custGeom>
              <a:avLst/>
              <a:gdLst/>
              <a:ahLst/>
              <a:cxnLst/>
              <a:rect r="r" b="b" t="t" l="l"/>
              <a:pathLst>
                <a:path h="450622" w="3501272">
                  <a:moveTo>
                    <a:pt x="29701" y="0"/>
                  </a:moveTo>
                  <a:lnTo>
                    <a:pt x="3471572" y="0"/>
                  </a:lnTo>
                  <a:cubicBezTo>
                    <a:pt x="3479449" y="0"/>
                    <a:pt x="3487003" y="3129"/>
                    <a:pt x="3492573" y="8699"/>
                  </a:cubicBezTo>
                  <a:cubicBezTo>
                    <a:pt x="3498143" y="14269"/>
                    <a:pt x="3501272" y="21824"/>
                    <a:pt x="3501272" y="29701"/>
                  </a:cubicBezTo>
                  <a:lnTo>
                    <a:pt x="3501272" y="420922"/>
                  </a:lnTo>
                  <a:cubicBezTo>
                    <a:pt x="3501272" y="428799"/>
                    <a:pt x="3498143" y="436353"/>
                    <a:pt x="3492573" y="441923"/>
                  </a:cubicBezTo>
                  <a:cubicBezTo>
                    <a:pt x="3487003" y="447493"/>
                    <a:pt x="3479449" y="450622"/>
                    <a:pt x="3471572" y="450622"/>
                  </a:cubicBezTo>
                  <a:lnTo>
                    <a:pt x="29701" y="450622"/>
                  </a:lnTo>
                  <a:cubicBezTo>
                    <a:pt x="21824" y="450622"/>
                    <a:pt x="14269" y="447493"/>
                    <a:pt x="8699" y="441923"/>
                  </a:cubicBezTo>
                  <a:cubicBezTo>
                    <a:pt x="3129" y="436353"/>
                    <a:pt x="0" y="428799"/>
                    <a:pt x="0" y="420922"/>
                  </a:cubicBezTo>
                  <a:lnTo>
                    <a:pt x="0" y="29701"/>
                  </a:lnTo>
                  <a:cubicBezTo>
                    <a:pt x="0" y="21824"/>
                    <a:pt x="3129" y="14269"/>
                    <a:pt x="8699" y="8699"/>
                  </a:cubicBezTo>
                  <a:cubicBezTo>
                    <a:pt x="14269" y="3129"/>
                    <a:pt x="21824" y="0"/>
                    <a:pt x="29701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501272" cy="498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6794" y="6310667"/>
            <a:ext cx="13293894" cy="1710957"/>
            <a:chOff x="0" y="0"/>
            <a:chExt cx="3501272" cy="4506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01272" cy="450622"/>
            </a:xfrm>
            <a:custGeom>
              <a:avLst/>
              <a:gdLst/>
              <a:ahLst/>
              <a:cxnLst/>
              <a:rect r="r" b="b" t="t" l="l"/>
              <a:pathLst>
                <a:path h="450622" w="3501272">
                  <a:moveTo>
                    <a:pt x="29701" y="0"/>
                  </a:moveTo>
                  <a:lnTo>
                    <a:pt x="3471572" y="0"/>
                  </a:lnTo>
                  <a:cubicBezTo>
                    <a:pt x="3479449" y="0"/>
                    <a:pt x="3487003" y="3129"/>
                    <a:pt x="3492573" y="8699"/>
                  </a:cubicBezTo>
                  <a:cubicBezTo>
                    <a:pt x="3498143" y="14269"/>
                    <a:pt x="3501272" y="21824"/>
                    <a:pt x="3501272" y="29701"/>
                  </a:cubicBezTo>
                  <a:lnTo>
                    <a:pt x="3501272" y="420922"/>
                  </a:lnTo>
                  <a:cubicBezTo>
                    <a:pt x="3501272" y="428799"/>
                    <a:pt x="3498143" y="436353"/>
                    <a:pt x="3492573" y="441923"/>
                  </a:cubicBezTo>
                  <a:cubicBezTo>
                    <a:pt x="3487003" y="447493"/>
                    <a:pt x="3479449" y="450622"/>
                    <a:pt x="3471572" y="450622"/>
                  </a:cubicBezTo>
                  <a:lnTo>
                    <a:pt x="29701" y="450622"/>
                  </a:lnTo>
                  <a:cubicBezTo>
                    <a:pt x="21824" y="450622"/>
                    <a:pt x="14269" y="447493"/>
                    <a:pt x="8699" y="441923"/>
                  </a:cubicBezTo>
                  <a:cubicBezTo>
                    <a:pt x="3129" y="436353"/>
                    <a:pt x="0" y="428799"/>
                    <a:pt x="0" y="420922"/>
                  </a:cubicBezTo>
                  <a:lnTo>
                    <a:pt x="0" y="29701"/>
                  </a:lnTo>
                  <a:cubicBezTo>
                    <a:pt x="0" y="21824"/>
                    <a:pt x="3129" y="14269"/>
                    <a:pt x="8699" y="8699"/>
                  </a:cubicBezTo>
                  <a:cubicBezTo>
                    <a:pt x="14269" y="3129"/>
                    <a:pt x="21824" y="0"/>
                    <a:pt x="29701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501272" cy="498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6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80176" y="3603170"/>
            <a:ext cx="12596059" cy="1170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0"/>
              </a:lnSpc>
              <a:spcBef>
                <a:spcPct val="0"/>
              </a:spcBef>
            </a:pPr>
            <a:r>
              <a:rPr lang="en-US" b="true" sz="3421" spc="-78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Mantenimiento Reactivo: Reparar cuando se rompe (alto costo, paradas repentinas)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0516" y="6541529"/>
            <a:ext cx="12331775" cy="1192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1"/>
              </a:lnSpc>
              <a:spcBef>
                <a:spcPct val="0"/>
              </a:spcBef>
            </a:pPr>
            <a:r>
              <a:rPr lang="en-US" b="true" sz="3486" spc="-80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Mantenimiento Preventivo (Cambiar piezas por calendario = desperdicio de la vida útil de la máquina).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132068">
            <a:off x="13166811" y="-4444708"/>
            <a:ext cx="9213358" cy="7504698"/>
          </a:xfrm>
          <a:custGeom>
            <a:avLst/>
            <a:gdLst/>
            <a:ahLst/>
            <a:cxnLst/>
            <a:rect r="r" b="b" t="t" l="l"/>
            <a:pathLst>
              <a:path h="7504698" w="9213358">
                <a:moveTo>
                  <a:pt x="0" y="0"/>
                </a:moveTo>
                <a:lnTo>
                  <a:pt x="9213357" y="0"/>
                </a:lnTo>
                <a:lnTo>
                  <a:pt x="9213357" y="7504699"/>
                </a:lnTo>
                <a:lnTo>
                  <a:pt x="0" y="7504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6323465" y="1034337"/>
            <a:ext cx="1830961" cy="183096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623151" y="492041"/>
            <a:ext cx="700314" cy="70031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3D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447320" y="9704611"/>
            <a:ext cx="6483182" cy="0"/>
          </a:xfrm>
          <a:prstGeom prst="line">
            <a:avLst/>
          </a:prstGeom>
          <a:ln cap="rnd" w="323850">
            <a:solidFill>
              <a:srgbClr val="B48C5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902452" y="4482201"/>
            <a:ext cx="8483096" cy="4776099"/>
          </a:xfrm>
          <a:custGeom>
            <a:avLst/>
            <a:gdLst/>
            <a:ahLst/>
            <a:cxnLst/>
            <a:rect r="r" b="b" t="t" l="l"/>
            <a:pathLst>
              <a:path h="4776099" w="8483096">
                <a:moveTo>
                  <a:pt x="0" y="0"/>
                </a:moveTo>
                <a:lnTo>
                  <a:pt x="8483096" y="0"/>
                </a:lnTo>
                <a:lnTo>
                  <a:pt x="8483096" y="4776099"/>
                </a:lnTo>
                <a:lnTo>
                  <a:pt x="0" y="47760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15514" y="421777"/>
            <a:ext cx="13256972" cy="133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9"/>
              </a:lnSpc>
            </a:pPr>
            <a:r>
              <a:rPr lang="en-US" b="true" sz="5363" spc="142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¿QUÉ ES UN GEMELO DIGITAL (DIGITAL TWIN)?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04634" y="2555647"/>
            <a:ext cx="11467852" cy="1455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65"/>
              </a:lnSpc>
              <a:spcBef>
                <a:spcPct val="0"/>
              </a:spcBef>
            </a:pPr>
            <a:r>
              <a:rPr lang="en-US" sz="4189" spc="-96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Un</a:t>
            </a:r>
            <a:r>
              <a:rPr lang="en-US" sz="4189" spc="-96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modelo digital que representa con precisión una máquina física y su funcionamiento.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555647"/>
            <a:ext cx="3275934" cy="675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9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Definición: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3D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724685">
            <a:off x="13468793" y="6863848"/>
            <a:ext cx="10135766" cy="8256042"/>
          </a:xfrm>
          <a:custGeom>
            <a:avLst/>
            <a:gdLst/>
            <a:ahLst/>
            <a:cxnLst/>
            <a:rect r="r" b="b" t="t" l="l"/>
            <a:pathLst>
              <a:path h="8256042" w="10135766">
                <a:moveTo>
                  <a:pt x="0" y="0"/>
                </a:moveTo>
                <a:lnTo>
                  <a:pt x="10135766" y="0"/>
                </a:lnTo>
                <a:lnTo>
                  <a:pt x="10135766" y="8256042"/>
                </a:lnTo>
                <a:lnTo>
                  <a:pt x="0" y="82560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66435" y="2490460"/>
            <a:ext cx="4207197" cy="2653040"/>
          </a:xfrm>
          <a:custGeom>
            <a:avLst/>
            <a:gdLst/>
            <a:ahLst/>
            <a:cxnLst/>
            <a:rect r="r" b="b" t="t" l="l"/>
            <a:pathLst>
              <a:path h="2653040" w="4207197">
                <a:moveTo>
                  <a:pt x="0" y="0"/>
                </a:moveTo>
                <a:lnTo>
                  <a:pt x="4207197" y="0"/>
                </a:lnTo>
                <a:lnTo>
                  <a:pt x="4207197" y="2653040"/>
                </a:lnTo>
                <a:lnTo>
                  <a:pt x="0" y="26530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569" t="0" r="-13302" b="-140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12647" y="5838825"/>
            <a:ext cx="3860985" cy="3057441"/>
          </a:xfrm>
          <a:custGeom>
            <a:avLst/>
            <a:gdLst/>
            <a:ahLst/>
            <a:cxnLst/>
            <a:rect r="r" b="b" t="t" l="l"/>
            <a:pathLst>
              <a:path h="3057441" w="3860985">
                <a:moveTo>
                  <a:pt x="0" y="0"/>
                </a:moveTo>
                <a:lnTo>
                  <a:pt x="3860985" y="0"/>
                </a:lnTo>
                <a:lnTo>
                  <a:pt x="3860985" y="3057441"/>
                </a:lnTo>
                <a:lnTo>
                  <a:pt x="0" y="30574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353" t="0" r="-5521" b="-610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103799" y="346817"/>
            <a:ext cx="12080402" cy="1449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3"/>
              </a:lnSpc>
            </a:pPr>
            <a:r>
              <a:rPr lang="en-US" b="true" sz="5460" spc="188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SIMULACIÓN 3D VS. GEMELO DIGITAL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0872" y="2602784"/>
            <a:ext cx="8061389" cy="2880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9"/>
              </a:lnSpc>
              <a:spcBef>
                <a:spcPct val="0"/>
              </a:spcBef>
            </a:pPr>
            <a:r>
              <a:rPr lang="en-US" b="true" sz="4085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Simulación: </a:t>
            </a:r>
          </a:p>
          <a:p>
            <a:pPr algn="l" marL="881988" indent="-440994" lvl="1">
              <a:lnSpc>
                <a:spcPts val="5719"/>
              </a:lnSpc>
              <a:spcBef>
                <a:spcPct val="0"/>
              </a:spcBef>
              <a:buFont typeface="Arial"/>
              <a:buChar char="•"/>
            </a:pPr>
            <a:r>
              <a:rPr lang="en-US" sz="4085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Estática, offline y sin actualización automática de datos.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0872" y="6312102"/>
            <a:ext cx="7395353" cy="2156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73"/>
              </a:lnSpc>
              <a:spcBef>
                <a:spcPct val="0"/>
              </a:spcBef>
            </a:pPr>
            <a:r>
              <a:rPr lang="en-US" b="true" sz="4123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Gemelo Digital: </a:t>
            </a:r>
          </a:p>
          <a:p>
            <a:pPr algn="l" marL="890280" indent="-445140" lvl="1">
              <a:lnSpc>
                <a:spcPts val="577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123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</a:t>
            </a:r>
            <a:r>
              <a:rPr lang="en-US" sz="4123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onexión viva, en tiempo real, bidireccional.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32068">
            <a:off x="13871257" y="-5000054"/>
            <a:ext cx="9213358" cy="7504698"/>
          </a:xfrm>
          <a:custGeom>
            <a:avLst/>
            <a:gdLst/>
            <a:ahLst/>
            <a:cxnLst/>
            <a:rect r="r" b="b" t="t" l="l"/>
            <a:pathLst>
              <a:path h="7504698" w="9213358">
                <a:moveTo>
                  <a:pt x="0" y="0"/>
                </a:moveTo>
                <a:lnTo>
                  <a:pt x="9213357" y="0"/>
                </a:lnTo>
                <a:lnTo>
                  <a:pt x="9213357" y="7504698"/>
                </a:lnTo>
                <a:lnTo>
                  <a:pt x="0" y="7504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2070" y="260168"/>
            <a:ext cx="17493339" cy="9766665"/>
            <a:chOff x="0" y="0"/>
            <a:chExt cx="6516037" cy="36379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516037" cy="3637954"/>
            </a:xfrm>
            <a:custGeom>
              <a:avLst/>
              <a:gdLst/>
              <a:ahLst/>
              <a:cxnLst/>
              <a:rect r="r" b="b" t="t" l="l"/>
              <a:pathLst>
                <a:path h="3637954" w="6516037">
                  <a:moveTo>
                    <a:pt x="0" y="0"/>
                  </a:moveTo>
                  <a:lnTo>
                    <a:pt x="6516037" y="0"/>
                  </a:lnTo>
                  <a:lnTo>
                    <a:pt x="6516037" y="3637954"/>
                  </a:lnTo>
                  <a:lnTo>
                    <a:pt x="0" y="3637954"/>
                  </a:lnTo>
                  <a:close/>
                </a:path>
              </a:pathLst>
            </a:custGeom>
            <a:ln w="66675" cap="sq">
              <a:solidFill>
                <a:srgbClr val="283D6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6516037" cy="3628428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027911" y="478990"/>
            <a:ext cx="1830961" cy="183096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327597" y="-63306"/>
            <a:ext cx="700314" cy="70031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2920" y="1972277"/>
            <a:ext cx="16104991" cy="7603363"/>
            <a:chOff x="0" y="0"/>
            <a:chExt cx="4241644" cy="20025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41644" cy="2002532"/>
            </a:xfrm>
            <a:custGeom>
              <a:avLst/>
              <a:gdLst/>
              <a:ahLst/>
              <a:cxnLst/>
              <a:rect r="r" b="b" t="t" l="l"/>
              <a:pathLst>
                <a:path h="2002532" w="4241644">
                  <a:moveTo>
                    <a:pt x="24516" y="0"/>
                  </a:moveTo>
                  <a:lnTo>
                    <a:pt x="4217127" y="0"/>
                  </a:lnTo>
                  <a:cubicBezTo>
                    <a:pt x="4223629" y="0"/>
                    <a:pt x="4229865" y="2583"/>
                    <a:pt x="4234463" y="7181"/>
                  </a:cubicBezTo>
                  <a:cubicBezTo>
                    <a:pt x="4239061" y="11778"/>
                    <a:pt x="4241644" y="18014"/>
                    <a:pt x="4241644" y="24516"/>
                  </a:cubicBezTo>
                  <a:lnTo>
                    <a:pt x="4241644" y="1978015"/>
                  </a:lnTo>
                  <a:cubicBezTo>
                    <a:pt x="4241644" y="1991555"/>
                    <a:pt x="4230667" y="2002532"/>
                    <a:pt x="4217127" y="2002532"/>
                  </a:cubicBezTo>
                  <a:lnTo>
                    <a:pt x="24516" y="2002532"/>
                  </a:lnTo>
                  <a:cubicBezTo>
                    <a:pt x="10976" y="2002532"/>
                    <a:pt x="0" y="1991555"/>
                    <a:pt x="0" y="1978015"/>
                  </a:cubicBezTo>
                  <a:lnTo>
                    <a:pt x="0" y="24516"/>
                  </a:lnTo>
                  <a:cubicBezTo>
                    <a:pt x="0" y="10976"/>
                    <a:pt x="10976" y="0"/>
                    <a:pt x="24516" y="0"/>
                  </a:cubicBezTo>
                  <a:close/>
                </a:path>
              </a:pathLst>
            </a:custGeom>
            <a:solidFill>
              <a:srgbClr val="283D60">
                <a:alpha val="96863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241644" cy="2040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092431" y="2151281"/>
            <a:ext cx="4260261" cy="1733454"/>
            <a:chOff x="0" y="0"/>
            <a:chExt cx="812800" cy="3307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330720"/>
            </a:xfrm>
            <a:custGeom>
              <a:avLst/>
              <a:gdLst/>
              <a:ahLst/>
              <a:cxnLst/>
              <a:rect r="r" b="b" t="t" l="l"/>
              <a:pathLst>
                <a:path h="330720" w="812800">
                  <a:moveTo>
                    <a:pt x="609600" y="0"/>
                  </a:moveTo>
                  <a:cubicBezTo>
                    <a:pt x="721824" y="0"/>
                    <a:pt x="812800" y="74034"/>
                    <a:pt x="812800" y="165360"/>
                  </a:cubicBezTo>
                  <a:cubicBezTo>
                    <a:pt x="812800" y="256685"/>
                    <a:pt x="721824" y="330720"/>
                    <a:pt x="609600" y="330720"/>
                  </a:cubicBezTo>
                  <a:lnTo>
                    <a:pt x="203200" y="330720"/>
                  </a:lnTo>
                  <a:cubicBezTo>
                    <a:pt x="90976" y="330720"/>
                    <a:pt x="0" y="256685"/>
                    <a:pt x="0" y="165360"/>
                  </a:cubicBezTo>
                  <a:cubicBezTo>
                    <a:pt x="0" y="7403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12800" cy="368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4961218">
            <a:off x="7778465" y="3372974"/>
            <a:ext cx="2058409" cy="2065922"/>
          </a:xfrm>
          <a:custGeom>
            <a:avLst/>
            <a:gdLst/>
            <a:ahLst/>
            <a:cxnLst/>
            <a:rect r="r" b="b" t="t" l="l"/>
            <a:pathLst>
              <a:path h="2065922" w="2058409">
                <a:moveTo>
                  <a:pt x="0" y="0"/>
                </a:moveTo>
                <a:lnTo>
                  <a:pt x="2058409" y="0"/>
                </a:lnTo>
                <a:lnTo>
                  <a:pt x="2058409" y="2065922"/>
                </a:lnTo>
                <a:lnTo>
                  <a:pt x="0" y="2065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557464" y="446791"/>
            <a:ext cx="9173072" cy="126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3"/>
              </a:lnSpc>
            </a:pPr>
            <a:r>
              <a:rPr lang="en-US" b="true" sz="5014" spc="2075">
                <a:solidFill>
                  <a:srgbClr val="022A3D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¿CÓMO VIAJA LA INFORMACIÓN?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963235" y="4907232"/>
            <a:ext cx="4260261" cy="1733454"/>
            <a:chOff x="0" y="0"/>
            <a:chExt cx="812800" cy="330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330720"/>
            </a:xfrm>
            <a:custGeom>
              <a:avLst/>
              <a:gdLst/>
              <a:ahLst/>
              <a:cxnLst/>
              <a:rect r="r" b="b" t="t" l="l"/>
              <a:pathLst>
                <a:path h="330720" w="812800">
                  <a:moveTo>
                    <a:pt x="609600" y="0"/>
                  </a:moveTo>
                  <a:cubicBezTo>
                    <a:pt x="721824" y="0"/>
                    <a:pt x="812800" y="74034"/>
                    <a:pt x="812800" y="165360"/>
                  </a:cubicBezTo>
                  <a:cubicBezTo>
                    <a:pt x="812800" y="256685"/>
                    <a:pt x="721824" y="330720"/>
                    <a:pt x="609600" y="330720"/>
                  </a:cubicBezTo>
                  <a:lnTo>
                    <a:pt x="203200" y="330720"/>
                  </a:lnTo>
                  <a:cubicBezTo>
                    <a:pt x="90976" y="330720"/>
                    <a:pt x="0" y="256685"/>
                    <a:pt x="0" y="165360"/>
                  </a:cubicBezTo>
                  <a:cubicBezTo>
                    <a:pt x="0" y="7403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12800" cy="368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092431" y="7354688"/>
            <a:ext cx="4260261" cy="1733454"/>
            <a:chOff x="0" y="0"/>
            <a:chExt cx="812800" cy="330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330720"/>
            </a:xfrm>
            <a:custGeom>
              <a:avLst/>
              <a:gdLst/>
              <a:ahLst/>
              <a:cxnLst/>
              <a:rect r="r" b="b" t="t" l="l"/>
              <a:pathLst>
                <a:path h="330720" w="812800">
                  <a:moveTo>
                    <a:pt x="609600" y="0"/>
                  </a:moveTo>
                  <a:cubicBezTo>
                    <a:pt x="721824" y="0"/>
                    <a:pt x="812800" y="74034"/>
                    <a:pt x="812800" y="165360"/>
                  </a:cubicBezTo>
                  <a:cubicBezTo>
                    <a:pt x="812800" y="256685"/>
                    <a:pt x="721824" y="330720"/>
                    <a:pt x="609600" y="330720"/>
                  </a:cubicBezTo>
                  <a:lnTo>
                    <a:pt x="203200" y="330720"/>
                  </a:lnTo>
                  <a:cubicBezTo>
                    <a:pt x="90976" y="330720"/>
                    <a:pt x="0" y="256685"/>
                    <a:pt x="0" y="165360"/>
                  </a:cubicBezTo>
                  <a:cubicBezTo>
                    <a:pt x="0" y="7403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12800" cy="368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-10181093">
            <a:off x="8089535" y="6037655"/>
            <a:ext cx="2058409" cy="2065922"/>
          </a:xfrm>
          <a:custGeom>
            <a:avLst/>
            <a:gdLst/>
            <a:ahLst/>
            <a:cxnLst/>
            <a:rect r="r" b="b" t="t" l="l"/>
            <a:pathLst>
              <a:path h="2065922" w="2058409">
                <a:moveTo>
                  <a:pt x="0" y="0"/>
                </a:moveTo>
                <a:lnTo>
                  <a:pt x="2058409" y="0"/>
                </a:lnTo>
                <a:lnTo>
                  <a:pt x="2058409" y="2065922"/>
                </a:lnTo>
                <a:lnTo>
                  <a:pt x="0" y="2065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4557464" y="2420350"/>
            <a:ext cx="3363741" cy="1128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7"/>
              </a:lnSpc>
              <a:spcBef>
                <a:spcPct val="0"/>
              </a:spcBef>
            </a:pPr>
            <a:r>
              <a:rPr lang="en-US" sz="3262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[ Máquina Física + Sensores ]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184814" y="5250042"/>
            <a:ext cx="3817104" cy="990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4"/>
              </a:lnSpc>
              <a:spcBef>
                <a:spcPct val="0"/>
              </a:spcBef>
            </a:pPr>
            <a:r>
              <a:rPr lang="en-US" sz="2867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[ Procesamiento / Filtro de Datos ]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557464" y="7618658"/>
            <a:ext cx="3363741" cy="1138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1"/>
              </a:lnSpc>
              <a:spcBef>
                <a:spcPct val="0"/>
              </a:spcBef>
            </a:pPr>
            <a:r>
              <a:rPr lang="en-US" sz="3293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[ Gemelo Digital en la Nube ]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6331900" y="1149149"/>
            <a:ext cx="3252497" cy="13497716"/>
            <a:chOff x="0" y="0"/>
            <a:chExt cx="1376879" cy="57139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6879" cy="5713986"/>
            </a:xfrm>
            <a:custGeom>
              <a:avLst/>
              <a:gdLst/>
              <a:ahLst/>
              <a:cxnLst/>
              <a:rect r="r" b="b" t="t" l="l"/>
              <a:pathLst>
                <a:path h="5713986" w="1376879">
                  <a:moveTo>
                    <a:pt x="459208" y="5694917"/>
                  </a:moveTo>
                  <a:cubicBezTo>
                    <a:pt x="529797" y="5706431"/>
                    <a:pt x="610047" y="5713986"/>
                    <a:pt x="688810" y="5713986"/>
                  </a:cubicBezTo>
                  <a:cubicBezTo>
                    <a:pt x="767576" y="5713986"/>
                    <a:pt x="843368" y="5707509"/>
                    <a:pt x="913212" y="5695995"/>
                  </a:cubicBezTo>
                  <a:cubicBezTo>
                    <a:pt x="914700" y="5695636"/>
                    <a:pt x="916186" y="5695636"/>
                    <a:pt x="917671" y="5695277"/>
                  </a:cubicBezTo>
                  <a:cubicBezTo>
                    <a:pt x="1179969" y="5649221"/>
                    <a:pt x="1373164" y="5527608"/>
                    <a:pt x="1376879" y="5276616"/>
                  </a:cubicBezTo>
                  <a:lnTo>
                    <a:pt x="1376879" y="0"/>
                  </a:lnTo>
                  <a:lnTo>
                    <a:pt x="0" y="0"/>
                  </a:lnTo>
                  <a:lnTo>
                    <a:pt x="0" y="5272699"/>
                  </a:lnTo>
                  <a:cubicBezTo>
                    <a:pt x="3715" y="5528326"/>
                    <a:pt x="193937" y="5649942"/>
                    <a:pt x="459208" y="5694917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76879" cy="5625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518667">
            <a:off x="263008" y="6105483"/>
            <a:ext cx="1892564" cy="189256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22A3D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6775315" y="-2141379"/>
            <a:ext cx="2512241" cy="13339313"/>
            <a:chOff x="0" y="0"/>
            <a:chExt cx="1053225" cy="55923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3225" cy="5592339"/>
            </a:xfrm>
            <a:custGeom>
              <a:avLst/>
              <a:gdLst/>
              <a:ahLst/>
              <a:cxnLst/>
              <a:rect r="r" b="b" t="t" l="l"/>
              <a:pathLst>
                <a:path h="5592339" w="1053225">
                  <a:moveTo>
                    <a:pt x="351265" y="5573270"/>
                  </a:moveTo>
                  <a:cubicBezTo>
                    <a:pt x="405261" y="5584784"/>
                    <a:pt x="466648" y="5592339"/>
                    <a:pt x="526896" y="5592339"/>
                  </a:cubicBezTo>
                  <a:cubicBezTo>
                    <a:pt x="587147" y="5592339"/>
                    <a:pt x="645123" y="5585862"/>
                    <a:pt x="698550" y="5574348"/>
                  </a:cubicBezTo>
                  <a:cubicBezTo>
                    <a:pt x="699688" y="5573989"/>
                    <a:pt x="700824" y="5573989"/>
                    <a:pt x="701961" y="5573629"/>
                  </a:cubicBezTo>
                  <a:cubicBezTo>
                    <a:pt x="902602" y="5527574"/>
                    <a:pt x="1050384" y="5405960"/>
                    <a:pt x="1053225" y="5157670"/>
                  </a:cubicBezTo>
                  <a:lnTo>
                    <a:pt x="1053225" y="0"/>
                  </a:lnTo>
                  <a:lnTo>
                    <a:pt x="0" y="0"/>
                  </a:lnTo>
                  <a:lnTo>
                    <a:pt x="0" y="5153842"/>
                  </a:lnTo>
                  <a:cubicBezTo>
                    <a:pt x="2842" y="5406679"/>
                    <a:pt x="148350" y="5528294"/>
                    <a:pt x="351265" y="557327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53225" cy="5503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5518667">
            <a:off x="263321" y="3104258"/>
            <a:ext cx="1911039" cy="191103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22A3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28245" y="6398910"/>
            <a:ext cx="1113347" cy="1224682"/>
          </a:xfrm>
          <a:custGeom>
            <a:avLst/>
            <a:gdLst/>
            <a:ahLst/>
            <a:cxnLst/>
            <a:rect r="r" b="b" t="t" l="l"/>
            <a:pathLst>
              <a:path h="1224682" w="1113347">
                <a:moveTo>
                  <a:pt x="0" y="0"/>
                </a:moveTo>
                <a:lnTo>
                  <a:pt x="1113347" y="0"/>
                </a:lnTo>
                <a:lnTo>
                  <a:pt x="1113347" y="1224682"/>
                </a:lnTo>
                <a:lnTo>
                  <a:pt x="0" y="1224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85889" y="3228222"/>
            <a:ext cx="1196954" cy="1574939"/>
          </a:xfrm>
          <a:custGeom>
            <a:avLst/>
            <a:gdLst/>
            <a:ahLst/>
            <a:cxnLst/>
            <a:rect r="r" b="b" t="t" l="l"/>
            <a:pathLst>
              <a:path h="1574939" w="1196954">
                <a:moveTo>
                  <a:pt x="0" y="0"/>
                </a:moveTo>
                <a:lnTo>
                  <a:pt x="1196953" y="0"/>
                </a:lnTo>
                <a:lnTo>
                  <a:pt x="1196953" y="1574939"/>
                </a:lnTo>
                <a:lnTo>
                  <a:pt x="0" y="15749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233213" y="3531691"/>
            <a:ext cx="11206173" cy="204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3"/>
              </a:lnSpc>
              <a:spcBef>
                <a:spcPct val="0"/>
              </a:spcBef>
            </a:pPr>
            <a:r>
              <a:rPr lang="en-US" b="true" sz="3952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ANÁLISIS DE DATOS MEDIANTE TÉCNICAS ESTADÍSTICAS Y COMPUTACIONALES PARA PREDECIR FALLOS DE MANERA TEMPRANA.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33213" y="6475610"/>
            <a:ext cx="11656544" cy="2782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4"/>
              </a:lnSpc>
              <a:spcBef>
                <a:spcPct val="0"/>
              </a:spcBef>
            </a:pPr>
            <a:r>
              <a:rPr lang="en-US" b="true" sz="403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CONCEPTO CLAVE: RUL (VIDA ÚTIL RESTANTE), QUE ESTIMA EL TIEMPO O USO QUE LE QUEDA A UN EQUIPO ANTES DE QUE OCURRA UN FALLO.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86780" y="708632"/>
            <a:ext cx="15936684" cy="1877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3"/>
              </a:lnSpc>
            </a:pPr>
            <a:r>
              <a:rPr lang="en-US" b="true" sz="6543" spc="988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¿PARA QUÉ SIRVE?: EL MANTENIMIENTO PREDICTIVO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132068">
            <a:off x="13166811" y="-4444708"/>
            <a:ext cx="9213358" cy="7504698"/>
          </a:xfrm>
          <a:custGeom>
            <a:avLst/>
            <a:gdLst/>
            <a:ahLst/>
            <a:cxnLst/>
            <a:rect r="r" b="b" t="t" l="l"/>
            <a:pathLst>
              <a:path h="7504698" w="9213358">
                <a:moveTo>
                  <a:pt x="0" y="0"/>
                </a:moveTo>
                <a:lnTo>
                  <a:pt x="9213357" y="0"/>
                </a:lnTo>
                <a:lnTo>
                  <a:pt x="9213357" y="7504699"/>
                </a:lnTo>
                <a:lnTo>
                  <a:pt x="0" y="75046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6323465" y="1034337"/>
            <a:ext cx="1830961" cy="183096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623151" y="492041"/>
            <a:ext cx="700314" cy="70031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6" id="26"/>
          <p:cNvSpPr/>
          <p:nvPr/>
        </p:nvSpPr>
        <p:spPr>
          <a:xfrm flipV="true">
            <a:off x="17238945" y="4958221"/>
            <a:ext cx="0" cy="4866318"/>
          </a:xfrm>
          <a:prstGeom prst="line">
            <a:avLst/>
          </a:prstGeom>
          <a:ln cap="rnd" w="323850">
            <a:solidFill>
              <a:srgbClr val="B48C5D"/>
            </a:solidFill>
            <a:prstDash val="sysDot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283D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55319" y="4092183"/>
            <a:ext cx="5326024" cy="5166117"/>
            <a:chOff x="0" y="0"/>
            <a:chExt cx="1190772" cy="11550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90772" cy="1155021"/>
            </a:xfrm>
            <a:custGeom>
              <a:avLst/>
              <a:gdLst/>
              <a:ahLst/>
              <a:cxnLst/>
              <a:rect r="r" b="b" t="t" l="l"/>
              <a:pathLst>
                <a:path h="1155021" w="1190772">
                  <a:moveTo>
                    <a:pt x="1190772" y="0"/>
                  </a:moveTo>
                  <a:lnTo>
                    <a:pt x="1190772" y="1040721"/>
                  </a:lnTo>
                  <a:lnTo>
                    <a:pt x="595386" y="1155021"/>
                  </a:lnTo>
                  <a:lnTo>
                    <a:pt x="0" y="1040721"/>
                  </a:lnTo>
                  <a:lnTo>
                    <a:pt x="0" y="0"/>
                  </a:lnTo>
                  <a:lnTo>
                    <a:pt x="1190772" y="0"/>
                  </a:ln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190772" cy="1069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459565" y="3581808"/>
            <a:ext cx="971420" cy="97142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  <a:ln w="28575" cap="sq">
              <a:solidFill>
                <a:srgbClr val="283D6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283D6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93755" y="4072685"/>
            <a:ext cx="5346126" cy="5185615"/>
            <a:chOff x="0" y="0"/>
            <a:chExt cx="1190772" cy="11550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90772" cy="1155021"/>
            </a:xfrm>
            <a:custGeom>
              <a:avLst/>
              <a:gdLst/>
              <a:ahLst/>
              <a:cxnLst/>
              <a:rect r="r" b="b" t="t" l="l"/>
              <a:pathLst>
                <a:path h="1155021" w="1190772">
                  <a:moveTo>
                    <a:pt x="1190772" y="0"/>
                  </a:moveTo>
                  <a:lnTo>
                    <a:pt x="1190772" y="1040721"/>
                  </a:lnTo>
                  <a:lnTo>
                    <a:pt x="595386" y="1155021"/>
                  </a:lnTo>
                  <a:lnTo>
                    <a:pt x="0" y="1040721"/>
                  </a:lnTo>
                  <a:lnTo>
                    <a:pt x="0" y="0"/>
                  </a:lnTo>
                  <a:lnTo>
                    <a:pt x="1190772" y="0"/>
                  </a:lnTo>
                  <a:close/>
                </a:path>
              </a:pathLst>
            </a:custGeom>
            <a:solidFill>
              <a:srgbClr val="F1E7D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190772" cy="1069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97263" y="3585142"/>
            <a:ext cx="975087" cy="97508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E7DD"/>
            </a:solidFill>
            <a:ln w="28575" cap="sq">
              <a:solidFill>
                <a:srgbClr val="283D6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283D6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02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024229" y="4485812"/>
            <a:ext cx="4588203" cy="4378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4"/>
              </a:lnSpc>
            </a:pPr>
            <a:r>
              <a:rPr lang="en-US" sz="3882" spc="163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Reducción de paradas no planificadas (downtime), minimizando interrupciones inesperadas en la operación.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49509" y="4476287"/>
            <a:ext cx="4234619" cy="397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4016" spc="168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Reducción de costos operativos y aumento de la seguridad en el funcionamiento de los equipos.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19229" y="1351523"/>
            <a:ext cx="13849542" cy="1466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9"/>
              </a:lnSpc>
            </a:pPr>
            <a:r>
              <a:rPr lang="en-US" b="true" sz="5061" spc="2095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IMPACTO REAL EN LA FÁBRICA</a:t>
            </a:r>
          </a:p>
        </p:txBody>
      </p:sp>
      <p:sp>
        <p:nvSpPr>
          <p:cNvPr name="AutoShape 17" id="17"/>
          <p:cNvSpPr/>
          <p:nvPr/>
        </p:nvSpPr>
        <p:spPr>
          <a:xfrm>
            <a:off x="5728192" y="525215"/>
            <a:ext cx="6831616" cy="0"/>
          </a:xfrm>
          <a:prstGeom prst="line">
            <a:avLst/>
          </a:prstGeom>
          <a:ln cap="rnd" w="323850">
            <a:solidFill>
              <a:srgbClr val="B48C5D"/>
            </a:solidFill>
            <a:prstDash val="sysDot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32068">
            <a:off x="13332068" y="-4770037"/>
            <a:ext cx="9213358" cy="7504698"/>
          </a:xfrm>
          <a:custGeom>
            <a:avLst/>
            <a:gdLst/>
            <a:ahLst/>
            <a:cxnLst/>
            <a:rect r="r" b="b" t="t" l="l"/>
            <a:pathLst>
              <a:path h="7504698" w="9213358">
                <a:moveTo>
                  <a:pt x="0" y="0"/>
                </a:moveTo>
                <a:lnTo>
                  <a:pt x="9213357" y="0"/>
                </a:lnTo>
                <a:lnTo>
                  <a:pt x="9213357" y="7504699"/>
                </a:lnTo>
                <a:lnTo>
                  <a:pt x="0" y="7504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48773" y="867025"/>
            <a:ext cx="16821672" cy="9243884"/>
            <a:chOff x="0" y="0"/>
            <a:chExt cx="6265850" cy="34432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65850" cy="3443225"/>
            </a:xfrm>
            <a:custGeom>
              <a:avLst/>
              <a:gdLst/>
              <a:ahLst/>
              <a:cxnLst/>
              <a:rect r="r" b="b" t="t" l="l"/>
              <a:pathLst>
                <a:path h="3443225" w="6265850">
                  <a:moveTo>
                    <a:pt x="0" y="0"/>
                  </a:moveTo>
                  <a:lnTo>
                    <a:pt x="6265850" y="0"/>
                  </a:lnTo>
                  <a:lnTo>
                    <a:pt x="6265850" y="3443225"/>
                  </a:lnTo>
                  <a:lnTo>
                    <a:pt x="0" y="3443225"/>
                  </a:lnTo>
                  <a:close/>
                </a:path>
              </a:pathLst>
            </a:custGeom>
            <a:ln w="66675" cap="sq">
              <a:solidFill>
                <a:srgbClr val="283D6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6265850" cy="3433700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961381" y="3313718"/>
            <a:ext cx="14350344" cy="102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38797" indent="-319399" lvl="1">
              <a:lnSpc>
                <a:spcPts val="414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58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Objetivo:</a:t>
            </a:r>
            <a:r>
              <a:rPr lang="en-US" sz="2958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Evaluar el estado del arte en arquitecturas computacionales para Gemelos Digitales aplicados al mantenimiento predictivo.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97474" y="1143000"/>
            <a:ext cx="10693052" cy="184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2"/>
              </a:lnSpc>
            </a:pPr>
            <a:r>
              <a:rPr lang="en-US" b="true" sz="4982" spc="2062">
                <a:solidFill>
                  <a:srgbClr val="022A3D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DE LA INTRODUCCIÓN A LA INVESTIGACIÓN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938648" y="867025"/>
            <a:ext cx="1339151" cy="133915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88408" y="166712"/>
            <a:ext cx="700314" cy="70031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530811" y="5234491"/>
            <a:ext cx="13257597" cy="3012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3398" indent="-311699" lvl="1">
              <a:lnSpc>
                <a:spcPts val="4042"/>
              </a:lnSpc>
              <a:buFont typeface="Arial"/>
              <a:buChar char="•"/>
            </a:pPr>
            <a:r>
              <a:rPr lang="en-US" sz="2887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Flujo de Datos y Latencia: Modelos de referencia para la sincronización en tiempo real (IoT - Nube). </a:t>
            </a:r>
          </a:p>
          <a:p>
            <a:pPr algn="l" marL="623398" indent="-311699" lvl="1">
              <a:lnSpc>
                <a:spcPts val="4042"/>
              </a:lnSpc>
              <a:buFont typeface="Arial"/>
              <a:buChar char="•"/>
            </a:pPr>
            <a:r>
              <a:rPr lang="en-US" sz="2887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Algoritmia Data-Driven: Eficacia comparativa de modelos de Machine Learning (XGBoost, Random Forest) para el cálculo del RUL. </a:t>
            </a:r>
          </a:p>
          <a:p>
            <a:pPr algn="l" marL="623398" indent="-311699" lvl="1">
              <a:lnSpc>
                <a:spcPts val="4042"/>
              </a:lnSpc>
              <a:spcBef>
                <a:spcPct val="0"/>
              </a:spcBef>
              <a:buFont typeface="Arial"/>
              <a:buChar char="•"/>
            </a:pPr>
            <a:r>
              <a:rPr lang="en-US" sz="2887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Optimización Avanzada: Integración de Aprendizaje por Refuerzo Multiagente (MARL) en la toma de decisiones autónomas. </a:t>
            </a:r>
          </a:p>
        </p:txBody>
      </p:sp>
      <p:sp>
        <p:nvSpPr>
          <p:cNvPr name="AutoShape 15" id="15"/>
          <p:cNvSpPr/>
          <p:nvPr/>
        </p:nvSpPr>
        <p:spPr>
          <a:xfrm>
            <a:off x="-1010949" y="594566"/>
            <a:ext cx="6396656" cy="0"/>
          </a:xfrm>
          <a:prstGeom prst="line">
            <a:avLst/>
          </a:prstGeom>
          <a:ln cap="rnd" w="323850">
            <a:solidFill>
              <a:srgbClr val="B48C5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209875" y="8561575"/>
            <a:ext cx="15853355" cy="111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4"/>
              </a:lnSpc>
              <a:spcBef>
                <a:spcPct val="0"/>
              </a:spcBef>
            </a:pPr>
            <a:r>
              <a:rPr lang="en-US" b="true" sz="3167">
                <a:solidFill>
                  <a:srgbClr val="022A3D"/>
                </a:solidFill>
                <a:latin typeface="Open Sans 1 Semi-Bold"/>
                <a:ea typeface="Open Sans 1 Semi-Bold"/>
                <a:cs typeface="Open Sans 1 Semi-Bold"/>
                <a:sym typeface="Open Sans 1 Semi-Bold"/>
              </a:rPr>
              <a:t>Propósito Final: Identificar vacíos de investigación y proponer un marco optimizado para fábricas inteligentes.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31424" y="4623875"/>
            <a:ext cx="3732100" cy="505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9065" indent="-319532" lvl="1">
              <a:lnSpc>
                <a:spcPts val="414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60">
                <a:solidFill>
                  <a:srgbClr val="022A3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Ejes de Análisis: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3D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493448">
            <a:off x="12764455" y="-4493527"/>
            <a:ext cx="9213358" cy="7504698"/>
          </a:xfrm>
          <a:custGeom>
            <a:avLst/>
            <a:gdLst/>
            <a:ahLst/>
            <a:cxnLst/>
            <a:rect r="r" b="b" t="t" l="l"/>
            <a:pathLst>
              <a:path h="7504698" w="9213358">
                <a:moveTo>
                  <a:pt x="0" y="0"/>
                </a:moveTo>
                <a:lnTo>
                  <a:pt x="9213358" y="0"/>
                </a:lnTo>
                <a:lnTo>
                  <a:pt x="9213358" y="7504699"/>
                </a:lnTo>
                <a:lnTo>
                  <a:pt x="0" y="7504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693960" y="7073953"/>
            <a:ext cx="6483182" cy="0"/>
          </a:xfrm>
          <a:prstGeom prst="line">
            <a:avLst/>
          </a:prstGeom>
          <a:ln cap="rnd" w="323850">
            <a:solidFill>
              <a:srgbClr val="B48C5D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5715228" y="1298787"/>
            <a:ext cx="1830961" cy="183096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014915" y="756491"/>
            <a:ext cx="700314" cy="70031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485639" y="8394558"/>
            <a:ext cx="7394558" cy="645692"/>
            <a:chOff x="0" y="0"/>
            <a:chExt cx="3282592" cy="2866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82592" cy="286635"/>
            </a:xfrm>
            <a:custGeom>
              <a:avLst/>
              <a:gdLst/>
              <a:ahLst/>
              <a:cxnLst/>
              <a:rect r="r" b="b" t="t" l="l"/>
              <a:pathLst>
                <a:path h="286635" w="3282592">
                  <a:moveTo>
                    <a:pt x="0" y="0"/>
                  </a:moveTo>
                  <a:lnTo>
                    <a:pt x="3282592" y="0"/>
                  </a:lnTo>
                  <a:lnTo>
                    <a:pt x="3282592" y="286635"/>
                  </a:lnTo>
                  <a:lnTo>
                    <a:pt x="0" y="286635"/>
                  </a:ln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3282592" cy="3342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793929" y="1187350"/>
            <a:ext cx="506045" cy="206098"/>
          </a:xfrm>
          <a:custGeom>
            <a:avLst/>
            <a:gdLst/>
            <a:ahLst/>
            <a:cxnLst/>
            <a:rect r="r" b="b" t="t" l="l"/>
            <a:pathLst>
              <a:path h="206098" w="506045">
                <a:moveTo>
                  <a:pt x="0" y="0"/>
                </a:moveTo>
                <a:lnTo>
                  <a:pt x="506045" y="0"/>
                </a:lnTo>
                <a:lnTo>
                  <a:pt x="506045" y="206098"/>
                </a:lnTo>
                <a:lnTo>
                  <a:pt x="0" y="2060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14574" y="3601830"/>
            <a:ext cx="14160264" cy="1330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24"/>
              </a:lnSpc>
            </a:pPr>
            <a:r>
              <a:rPr lang="en-US" b="true" sz="10233" spc="2711">
                <a:solidFill>
                  <a:srgbClr val="FFFFFF"/>
                </a:solidFill>
                <a:latin typeface="Open Sans 1 Medium"/>
                <a:ea typeface="Open Sans 1 Medium"/>
                <a:cs typeface="Open Sans 1 Medium"/>
                <a:sym typeface="Open Sans 1 Medium"/>
              </a:rPr>
              <a:t>MUCHAS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14574" y="5102566"/>
            <a:ext cx="15936584" cy="1642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59"/>
              </a:lnSpc>
            </a:pPr>
            <a:r>
              <a:rPr lang="en-US" b="true" sz="12769" spc="5286">
                <a:solidFill>
                  <a:srgbClr val="FFFFFF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GRACIAS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72559" y="8617711"/>
            <a:ext cx="7020718" cy="259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0"/>
              </a:lnSpc>
            </a:pPr>
            <a:r>
              <a:rPr lang="en-US" b="true" sz="1958" spc="270">
                <a:solidFill>
                  <a:srgbClr val="FFFFFF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Más información en www.unsitiogenial.es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10162" y="1197089"/>
            <a:ext cx="3741987" cy="259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0"/>
              </a:lnSpc>
            </a:pPr>
            <a:r>
              <a:rPr lang="en-US" sz="1958" spc="270" b="true">
                <a:solidFill>
                  <a:srgbClr val="FFFFFF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Estudio Shonos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DAHOv_m6DlI</dc:identifier>
  <dcterms:modified xsi:type="dcterms:W3CDTF">2011-08-01T06:04:30Z</dcterms:modified>
  <cp:revision>1</cp:revision>
  <dc:title>Mantenimiento predictivo basado en gemelos digitales orientado a las fábricas.</dc:title>
</cp:coreProperties>
</file>